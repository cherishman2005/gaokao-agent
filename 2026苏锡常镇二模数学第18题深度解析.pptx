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2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一同深入剖析2026届苏锡常镇四市高三教学情况调研中的数学第18题。这是一道典型的圆锥曲线综合题，分值高达17分，是整张试卷的压轴题之一。通过这道题，我们不仅要掌握解题的具体步骤，更要领会其中蕴含的数学思想和解题策略。希望通过本次解析，能帮助大家更好地应对高考中的解析几何大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这道题的全貌。题目分为两小问，第一问是基础的椭圆方程求解，第二问则分为两个部分，层层递进，难度逐渐增加。从初步分析来看，这道题综合了椭圆的性质、向量运算、直线与椭圆的位置关系以及面积计算等多个核心考点，对我们的综合能力要求很高。接下来，我们将逐一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道题考察的知识点非常丰富。我们可以看到，它涵盖了椭圆的基本性质，这是解题的基础。同时，还涉及到两点间距离公式、直线方程、向量运算、直线与椭圆的位置关系、斜率以及三角形面积等多个考点。特别是“设而不求”的韦达定理应用和面积比的转化，是解决本题的关键技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不同的问题，我们需要采取不同的策略。第一问是基础题，必须稳拿分数。第二问的第一小问，虽然计算量稍大，但思路比较直接，我们可以通过分步求解，按部就班地得到答案。而第二问的第二小问则是本题的难点，需要我们灵活运用“设而不求”的思想，通过韦达定理来简化复杂的运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第一问的详细解答。这一问非常基础，主要考察椭圆的基本性质。我们根据题目给出的离心率和|AB|的长度，建立两个关于a和b的方程。通过解这个简单的二元一次方程组，我们就能轻松求出a²和b²的值，从而得到椭圆的标准方程。这一步的关键是计算准确，确保后续解题的基础无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二问的第一小问。这一问的条件非常明确，P点横坐标已知，我们可以一步步求出各个点的坐标。首先，根据P点在AB上求出其坐标；然后，利用PM平行于x轴的条件求出M点；最后，利用向量关系，即P是QM中点，求出Q点坐标。这几步都是基础的坐标运算，关键在于细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现在我们进入本题最具挑战性的第二问第二小问。首先，我们设出直线MN的方程为y = x + b，并求出它与AB的交点G。接着，将直线MN与椭圆方程联立，得到一个一元二次方程，并利用韦达定理表示出两根之和与两根之积。这是“设而不求”思想的第一步。然后，我们利用P是QM中点和B、Q、N三点共线这两个几何条件，分别建立两个方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这是本题最关键也最复杂的一步。我们将上一步得到的两个方程联立，并代入韦达定理的结果，进行化简。这个过程需要扎实的代数运算能力。最终我们会解出b的两个可能值。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这时，一定要记得检验！当b=1时，直线MN会经过点B，导致N点与B点重合，这与题意“延长线段BQ交E于另一点N”矛盾，因此必须舍去。所以，我们确定b的值为-1。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求出b=-1后，问题就变得简单了。我们可以确定直线MN的具体方程为y = x - 1。然后，我们可以轻松求出G点、M点和N点的具体坐标。这些坐标是计算面积比的基础。大家可以看到，一旦关键参数确定，后续的计算就水到渠成了。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最后一步是计算面积比。直接计算两个三角形的面积会比较麻烦。这里我们使用一个非常巧妙的技巧：利用三角形面积公式S = 1/2 * ab * sinθ。由于两个三角形的夹角是对顶角，正弦值相等，因此面积比就转化为了两边长度乘积的比。这大大简化了计算。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将面积比转化为线段比后，我们只需要计算BG/AG和GM/GN这两个比值。由于这些点都在同一条直线上，我们可以利用横坐标的差来计算线段长度的比，这非常方便。计算得出BG/AG等于2，GM/GN等于1/5。两者相乘，我们就得到了最终的面积比为2/5。至此，这道压轴题就完整解答完毕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完这道题，我们更要提炼其中蕴含的数学思想。数形结合是解析几何的灵魂，贯穿始终。函数与方程思想帮助我们建立模型。转化与化归思想让我们化繁为简。而“设而不求”的韦达定理应用，是解决这类问题的核心技巧。最后，检验的思想也提醒我们解题要严谨。这些思想方法比具体的解题步骤更有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最终要服务于实战。在考场上，我们需要有策略地答题。对于小题，要追求速度和准确率。对于像第18题这样的压轴题，我们的目标应该是确保拿到前两问的分数，第三问则要尽力争取步骤分。即使没有完整思路，写出关键的步骤也可能获得宝贵的分数。合理分配时间，保持良好心态，是制胜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解析到此结束，感谢大家的观看。学习数学不仅在于掌握一道题的解法，更在于学会举一反三。这里给大家留几个拓展思考问题，希望大家课后可以尝试一下，将今天学到的方法进行迁移和应用。相信通过不断的练习和思考，大家的数学能力一定会有更大的提升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2026届苏锡常镇二模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数学第18题 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一道圆锥曲线综合题的解题策略与思想方法剖析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题目呈现与初步分析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527800" y="1905000"/>
            <a:ext cx="4597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初步分析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7800" y="279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112000" y="27305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题型定位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解析几何综合大题，核心考察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椭圆方程、直线与椭圆位置关系、向量运算、斜率与面积求解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，是多考点融合的典型题型。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400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3937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分值与难度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满分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17分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（压轴题），计算量大、逻辑链长，是区分度极高的核心难题。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512318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505968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考察能力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重点考察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运算求解、逻辑推理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能力，需熟练运用“数形结合”与“设而不求”技巧简化计算。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2" descr="IMG_2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150" y="2541905"/>
            <a:ext cx="6038850" cy="3324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365760" y="1778635"/>
            <a:ext cx="5676265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2026届苏锡常镇二模</a:t>
            </a:r>
            <a:r>
              <a:rPr lang="en-US" altLang="zh-CN" sz="28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28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数学第18题</a:t>
            </a:r>
            <a:endParaRPr lang="zh-CN" altLang="en-US" sz="2800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核心考点拆解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椭圆的基本性质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标准方程、基本参数 (a, b, c)、几何关系 (a² = b² + c²)、离心率 (e = c/a)、顶点坐标。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267075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267075"/>
            <a:ext cx="762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394075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两点间距离公式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在已知几何关系或坐标条件下，用于建立关于基本参数 a, b 的代数方程。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01015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5010150"/>
            <a:ext cx="762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513715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直线方程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根据已知点与斜率条件，灵活选择两点式、斜截式设定方程，简化计算。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651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向量的坐标运算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利用向量关系（如 QP = PM）将几何位置转化为坐标关系，确定中点。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048000"/>
            <a:ext cx="5207000" cy="1172845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3048000"/>
            <a:ext cx="76200" cy="117348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直线与椭圆的位置关系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联立方程结合韦达定理，利用“设而不求”思想减少计算量。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376420"/>
            <a:ext cx="5207000" cy="1005205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376420"/>
            <a:ext cx="76200" cy="1005205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50342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斜率公式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根据两点坐标计算斜率，或利用斜率几何意义求解范围。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5519420"/>
            <a:ext cx="5207000" cy="1016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5519420"/>
            <a:ext cx="762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564642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三角形面积公式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S = 1/2·ab·sinθ 将面积比转化为线段比，简化求解。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解题思路与步骤规划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066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第一问 · 基础送分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EB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务必拿下，稳保基础分</a:t>
            </a:r>
            <a:endParaRPr lang="en-US" sz="1300" b="0" i="0" u="none" strike="noStrike">
              <a:solidFill>
                <a:srgbClr val="FFEB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求出椭圆 E 的标准方程，为后续问题铺垫。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解题策略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利用几何性质（离心率、|AB|），建立关于 a、b 的方程组求解。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066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第二问① · 分步求解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EB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按部就班，拆解计算步骤</a:t>
            </a:r>
            <a:endParaRPr lang="en-US" sz="1300" b="0" i="0" u="none" strike="noStrike">
              <a:solidFill>
                <a:srgbClr val="FFEB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求直线斜率倒数和：1/k₁ + 1/k₂ 的值。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解题策略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推导关键点 P、M、Q、N 坐标，代入斜率公式计算倒数和。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1016000"/>
          </a:xfrm>
          <a:prstGeom prst="roundRect">
            <a:avLst>
              <a:gd name="adj" fmla="val 1500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20066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第二问② · 综合应用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EB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设而不求，活用韦达定理</a:t>
            </a:r>
            <a:endParaRPr lang="en-US" sz="1300" b="0" i="0" u="none" strike="noStrike">
              <a:solidFill>
                <a:srgbClr val="FFEB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求相关图形面积之比：S₁/S₂ 的值。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解题策略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联立直线与椭圆方程，利用韦达定理消元求面积比。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求椭圆E的标准方程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642485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496435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解题思路与步骤</a:t>
            </a:r>
            <a:endParaRPr lang="en-US" sz="1100"/>
          </a:p>
          <a:p>
            <a:pPr indent="0" algn="l">
              <a:lnSpc>
                <a:spcPct val="108000"/>
              </a:lnSpc>
              <a:spcAft>
                <a:spcPts val="1000"/>
              </a:spcAft>
            </a:pP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确定基本参数坐标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设椭圆右顶点为 A(a, 0)，上顶点为 B(0, b)。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1000"/>
              </a:spcAft>
            </a:pP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利用距离条件列方程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|AB| = √5，得 √(a² + b²) = √5，即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a² + b² = 5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1000"/>
              </a:spcAft>
            </a:pP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利用离心率条件列方程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e = c/a = √3/2，结合 a² = b² + c²，推导得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b² = (1/4)a²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1000"/>
              </a:spcAft>
            </a:pP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解二元一次方程组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联立方程求解，可得：a² = 4，b² = 1。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得出最终结论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椭圆 E 的标准方程为：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x²/4 + y² = 1</a:t>
            </a:r>
            <a:endParaRPr lang="en-US" sz="17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图片 3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650" y="1850390"/>
            <a:ext cx="6448425" cy="4268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① 求 1/k₁ + 1/k₂ 的值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" y="1216660"/>
            <a:ext cx="5334000" cy="527367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00" y="147066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41986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讲解步骤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" y="1986915"/>
            <a:ext cx="4826000" cy="825500"/>
          </a:xfrm>
          <a:prstGeom prst="roundRect">
            <a:avLst>
              <a:gd name="adj" fmla="val 923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66800" y="2050415"/>
            <a:ext cx="4572000" cy="6978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准备工作：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由题得 A(2, 0)，B(0, 1)，直线AB：y = -1/2 x + 1。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39800" y="2884170"/>
            <a:ext cx="4826000" cy="617220"/>
          </a:xfrm>
          <a:prstGeom prst="roundRect">
            <a:avLst>
              <a:gd name="adj" fmla="val 923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66800" y="2898140"/>
            <a:ext cx="4572000" cy="648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求P点坐标：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代入得</a:t>
            </a:r>
            <a:r>
              <a:rPr lang="en-US" sz="1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P(1, 1/2)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39800" y="3550920"/>
            <a:ext cx="4826000" cy="521335"/>
          </a:xfrm>
          <a:prstGeom prst="roundRect">
            <a:avLst>
              <a:gd name="adj" fmla="val 923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66800" y="3481705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求M点坐标：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PM∥x轴，解得</a:t>
            </a:r>
            <a:r>
              <a:rPr lang="en-US" sz="1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M(√3, 1/2)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147185"/>
            <a:ext cx="4826000" cy="619125"/>
          </a:xfrm>
          <a:prstGeom prst="roundRect">
            <a:avLst>
              <a:gd name="adj" fmla="val 923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66800" y="4121785"/>
            <a:ext cx="4572000" cy="664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求Q点坐标：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由中点公式得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Q(2 - √3, 1/2)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6805930" y="2079625"/>
            <a:ext cx="4779010" cy="441071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6"/>
          <p:cNvSpPr/>
          <p:nvPr/>
        </p:nvSpPr>
        <p:spPr>
          <a:xfrm>
            <a:off x="798195" y="4912995"/>
            <a:ext cx="5062855" cy="1478915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195" y="5141595"/>
            <a:ext cx="377190" cy="377190"/>
          </a:xfrm>
          <a:prstGeom prst="rect">
            <a:avLst/>
          </a:prstGeom>
        </p:spPr>
      </p:pic>
      <p:sp>
        <p:nvSpPr>
          <p:cNvPr id="18" name="AutoShape 8"/>
          <p:cNvSpPr/>
          <p:nvPr/>
        </p:nvSpPr>
        <p:spPr>
          <a:xfrm>
            <a:off x="1623695" y="5116195"/>
            <a:ext cx="4239260" cy="410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05 · 求N点坐标</a:t>
            </a:r>
            <a:endParaRPr lang="en-US" sz="1100"/>
          </a:p>
        </p:txBody>
      </p:sp>
      <p:sp>
        <p:nvSpPr>
          <p:cNvPr id="19" name="AutoShape 9"/>
          <p:cNvSpPr/>
          <p:nvPr/>
        </p:nvSpPr>
        <p:spPr>
          <a:xfrm>
            <a:off x="994410" y="5685790"/>
            <a:ext cx="4592320" cy="523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求出直线BQ的方程，与椭圆方程联立消元求解，得交点坐标：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N(1, -√3/2)</a:t>
            </a:r>
            <a:endParaRPr lang="en-US" sz="1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0"/>
          <p:cNvSpPr/>
          <p:nvPr/>
        </p:nvSpPr>
        <p:spPr>
          <a:xfrm>
            <a:off x="6555740" y="328930"/>
            <a:ext cx="5120640" cy="154813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9740" y="557530"/>
            <a:ext cx="406400" cy="328295"/>
          </a:xfrm>
          <a:prstGeom prst="rect">
            <a:avLst/>
          </a:prstGeom>
        </p:spPr>
      </p:pic>
      <p:sp>
        <p:nvSpPr>
          <p:cNvPr id="29" name="AutoShape 12"/>
          <p:cNvSpPr/>
          <p:nvPr/>
        </p:nvSpPr>
        <p:spPr>
          <a:xfrm>
            <a:off x="7381240" y="532130"/>
            <a:ext cx="4203065" cy="410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06 · 计算斜率倒数和</a:t>
            </a:r>
            <a:endParaRPr lang="en-US" sz="1100"/>
          </a:p>
        </p:txBody>
      </p:sp>
      <p:sp>
        <p:nvSpPr>
          <p:cNvPr id="30" name="AutoShape 13"/>
          <p:cNvSpPr/>
          <p:nvPr/>
        </p:nvSpPr>
        <p:spPr>
          <a:xfrm>
            <a:off x="6809740" y="819150"/>
            <a:ext cx="4620895" cy="956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分别求BM、BN斜率并计算倒数和：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k₁ = kBM, k₂ = kBN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最终结论：1/k₁ + 1/k₂ = 4 - 4√3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② 求 S₁/S₂ 的值（步骤1-2）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053" b="3053"/>
          <a:stretch>
            <a:fillRect/>
          </a:stretch>
        </p:blipFill>
        <p:spPr>
          <a:xfrm>
            <a:off x="762000" y="1651000"/>
            <a:ext cx="4826000" cy="4572000"/>
          </a:xfrm>
          <a:prstGeom prst="roundRect">
            <a:avLst>
              <a:gd name="adj" fmla="val 3333"/>
            </a:avLst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5969000" y="1651000"/>
            <a:ext cx="5461000" cy="24765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6223000" y="1905000"/>
            <a:ext cx="50800" cy="304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477000" y="18288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第一步：设直线方程并联立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223000" y="2413000"/>
            <a:ext cx="4953000" cy="1300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设直线MN方程：</a:t>
            </a: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斜率为1，设为 y = x + b。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求G点坐标：</a:t>
            </a: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联立MN与AB方程，解得 G( 2(1-b)/3 , (2+b)/3 )。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韦达定理：</a:t>
            </a: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整理得 5x² + 8bx + 4b² - 4 = 0，由韦达定理得：</a:t>
            </a:r>
            <a:r>
              <a:rPr lang="en-US" sz="1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x₁+x₂=-8b/5，x₁x₂=(4b²-4)/5</a:t>
            </a: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969000" y="4318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4572000"/>
            <a:ext cx="50800" cy="304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477000" y="44958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第二步：利用条件建立关系求b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23000" y="5134610"/>
            <a:ext cx="4953000" cy="849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中点条件：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利用“P为QM的中点”性质，推导关于 x_Q, x₁, b 的方程。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共线条件：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利用“B、Q、N三点共线”斜率关系，建立第二个方程。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② 求S₁/S₂的值（步骤3）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第二步：利用条件建立关系求 b（续）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667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联立方程求解 b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3429000"/>
            <a:ext cx="4572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代入与化简：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将方程(2)代入方程(1)，结合韦达定理 x₁+x₂ 与 x₁x₂ 的表达式，通过代数运算化简。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初步解：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求解得 b = -1 或 b = 1。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结果检验：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 b=1 时，直线过点 B(0,1)，点 N 与 B 重合，矛盾，故舍去。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最终结论：b = -1</a:t>
            </a:r>
            <a:endParaRPr lang="en-US" sz="16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405" y="1440180"/>
            <a:ext cx="5788025" cy="488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② 求 S₁/S₂ 的值（步骤4）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159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第三步：计算面积比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292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求出所有关键坐标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83000"/>
            <a:ext cx="4572000" cy="1881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直线MN的方程：</a:t>
            </a: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 = x - 1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直线交点 G 的坐标：</a:t>
            </a: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G(4/3, 1/3)</a:t>
            </a:r>
            <a:endParaRPr lang="en-US" sz="15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直线与椭圆交点：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M(8/5, 3/5)，N(0, -1)</a:t>
            </a:r>
            <a:endParaRPr lang="en-US" sz="14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99965406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180" y="2683510"/>
            <a:ext cx="5838825" cy="233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② 求 S₁/S₂ 的值（步骤5-面积转化）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第三步：计算面积比（续）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8. 面积比转化为线段比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59480"/>
            <a:ext cx="4699000" cy="23456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对于△BGM和△AGN，利用公式</a:t>
            </a: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 = 1/2 ab sinθ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展开面积比。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关键：∠BGM与∠AGN为对顶角，故</a:t>
            </a:r>
            <a:r>
              <a:rPr lang="en-US" sz="15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sin∠BGM = sin∠AGN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，可约去。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转化：S₁/S₂ = (BG/AG) · (GM/GN)，化面积比为线段比乘积。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 t="502" b="502"/>
          <a:stretch>
            <a:fillRect/>
          </a:stretch>
        </p:blipFill>
        <p:spPr>
          <a:xfrm>
            <a:off x="6223000" y="1778000"/>
            <a:ext cx="5207000" cy="3175000"/>
          </a:xfrm>
          <a:prstGeom prst="rect">
            <a:avLst/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6223000" y="5207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图解：利用三角函数面积公式进行代数化简与转化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(2) ② 求S₁/S₂的值（步骤5-计算）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050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第三步：计算面积比（续）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603500"/>
            <a:ext cx="4597400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09. 计算线段比：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点B,G,A共线，点M,G,N共线，利用横坐标差：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BG/AG = |x_B - x_G| / |x_G - x_A| = |4/3| / |2/3| = 2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GM/GN = |x_M - x_G| / |x_G - x_N| = |8/5 - 4/3| / |4/3| = 1/5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66800" y="4699000"/>
            <a:ext cx="4597400" cy="127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66800" y="4953000"/>
            <a:ext cx="4597400" cy="1147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10. 最终结果：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面积比 = 横向比 × 纵向比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S₁/S₂ = 2 × 1/5 = 2/5</a:t>
            </a:r>
            <a:endParaRPr lang="en-US" sz="20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62093462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695" y="1094740"/>
            <a:ext cx="4592320" cy="517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2121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本题蕴含的核心数学思想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655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558800" cy="558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841500"/>
            <a:ext cx="2222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数形结合思想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将几何关系（向量、共线）转化为代数关系（坐标、斜率）求解，贯穿解析几何始终。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06900" y="1651000"/>
            <a:ext cx="33655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660900" y="1905000"/>
            <a:ext cx="558800" cy="558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60900" y="1905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22900" y="1841500"/>
            <a:ext cx="2222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函数与方程思想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通过建立函数模型与方程（组）解决变量求解问题，如本题中求解参数值。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64500" y="1651000"/>
            <a:ext cx="33655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318500" y="1905000"/>
            <a:ext cx="558800" cy="558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1905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80500" y="1841500"/>
            <a:ext cx="2222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转化与化归思想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将复杂的面积比问题，通过几何性质转化为易计算的线段比或坐标关系。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5270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572000"/>
            <a:ext cx="558800" cy="558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41500" y="43815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设而不求思想 (韦达定理)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设出交点坐标，利用韦达定理整体代入，避免复杂数值计算，简化求解过程。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4191000"/>
            <a:ext cx="5270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572000"/>
            <a:ext cx="558800" cy="558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4572000"/>
            <a:ext cx="558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43815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分类讨论与检验思想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对多解情况分类讨论；求解后结合题意检验，舍去不符合几何意义的解。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考场实战策略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000760"/>
            <a:ext cx="5080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0" y="1000760"/>
            <a:ext cx="762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604000" y="1127760"/>
            <a:ext cx="469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小题策略：追求速度与准确率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时间控制：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3-5分钟/题，简单题争取10-60秒解决，为大题留足时间。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提速技巧：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灵活运用数形结合、特殊值代入、排除法快速锁定答案。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842260"/>
            <a:ext cx="5080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2842260"/>
            <a:ext cx="76200" cy="1460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296926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🚦 遇到难题：果断跳过，不恋战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思考超5分钟无思路立即标记跳过，完成其他题后再回头，避免因小失大。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4493260"/>
            <a:ext cx="5080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4493260"/>
            <a:ext cx="762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462026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第18题（压轴题）：分步拿分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保底分：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前两问难度适中，务必全神贯注确保拿到。</a:t>
            </a:r>
            <a:b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争步骤分：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第三问列出关键步骤（设方程、联立、韦达定理）也能得分。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2135505"/>
            <a:ext cx="5567680" cy="321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1638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5938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8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拓展思考 · Further Exploration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4838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E283C">
              <a:alpha val="90000"/>
            </a:srgbClr>
          </a:solidFill>
          <a:ln w="12700" cap="flat" cmpd="sng">
            <a:solidFill>
              <a:srgbClr val="FF8822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802380"/>
            <a:ext cx="330200" cy="330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52600" y="377698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条件变式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3738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若将“QP向量 = PM向量”改为“QP向量 = 2·PM向量”，求解结果会发生什么变化？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54838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E283C">
              <a:alpha val="90000"/>
            </a:srgbClr>
          </a:solidFill>
          <a:ln w="12700" cap="flat" cmpd="sng">
            <a:solidFill>
              <a:srgbClr val="FF8822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80238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81600" y="377698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结论变式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3738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若直线 MN 斜率为 k，S₁/S₂ 是否仍为定值？若否，其值与 k 有何函数关系？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354838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1E283C">
              <a:alpha val="90000"/>
            </a:srgbClr>
          </a:solidFill>
          <a:ln w="12700" cap="flat" cmpd="sng">
            <a:solidFill>
              <a:srgbClr val="FF8822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3802380"/>
            <a:ext cx="330200" cy="330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10600" y="377698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背景变式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437388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若将“椭圆”背景改为“双曲线”，解题思路有何异同？涉及的几何性质有哪些变化？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2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3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4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5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6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7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ags/tag8.xml><?xml version="1.0" encoding="utf-8"?>
<p:tagLst xmlns:p="http://schemas.openxmlformats.org/presentationml/2006/main">
  <p:tag name="KSO_WM_DIAGRAM_VIRTUALLY_FRAME" val="{&quot;height&quot;:380,&quot;left&quot;:470,&quot;top&quot;:130,&quot;width&quot;:43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2965</Words>
  <Application>WPS 演示</Application>
  <PresentationFormat/>
  <Paragraphs>216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22</cp:revision>
  <dcterms:created xsi:type="dcterms:W3CDTF">2026-05-11T18:37:22Z</dcterms:created>
  <dcterms:modified xsi:type="dcterms:W3CDTF">2026-05-11T19:03:04Z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505BE00F77294F7FB5F9DE342D55E5A3_12</vt:lpwstr>
  </property>
  <property fmtid="{D5CDD505-2E9C-101B-9397-08002B2CF9AE}" pid="3" name="KSOProductBuildVer">
    <vt:lpwstr>2052-12.1.0.25865</vt:lpwstr>
  </property>
</Properties>
</file>